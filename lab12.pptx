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강의(NGS 기초) 이후 두 실습을 손으로 진행. PyCell로 DNA 변이호출을 복습하고 Longread로 RNA-seq 확장.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랩 모두 브라우저 로컬 실행. 설치·비용·개인정보 이슈 없음. 합성데이터.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강의-실습 매핑. 앞 4줄은 PyCell(DNA), 마지막은 Longread(RNA) 확장.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환경 준비와 병원망 CDN 이슈. 순서 의존성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PyCell 파트: DNA 변이호출. 강의 내용과 1:1 대응.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PyCell UI. 합성데이터(wgsim) 경로를 권장 시작점으로.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파이프라인 지도 + 각 단계 실제 명령. bcftools=GATK 경량 대안.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구간 자르기 = 메모리·속도. 패널 검사의 타깃 개념과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wgsim 파라미터, FASTQ 4줄과 Phred+33. 변이율이 정답 변이를 심는다.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minimap2 정렬. SAM 컬럼 FLAG/CIGAR/MAPQ/NM 개념 소개.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samtools sort/index → BAM. BAM은 samtools view로 텍스트화.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bcftools mpileup|call. pileup에서 다수 read가 다른 위치=변이. VCF 산출.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FASTQ 4줄과 Phred+33. wgsim 품질 균일 주의.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 컬럼과 FLAG/CIGAR/NM. BAM=압축본.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VCF 구조: ##메타/#CHROM/데이터. QUAL·DP·AF·GT·PL 판독.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뷰어/검증 도구로 결과 파일을 직접 확인. 데이터 품질 감각.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VCF 플롯 4종과 해석 요령. Ti/Tv, QC 필터, 시그니처는 가설.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PyCell 요약 + 흔한 오류(CDN·reference 크기·순서·메모리).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Longread 파트: RNA-seq 확장. 롱리드 고유 분석.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Longread 6단계와 5가지 질문(구조/양/안정성/수식/융합).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나노포어: pod5 전류신호 → dorado basecalling. 시뮬은 단순화.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리드 생성 + 헤더 태그(pt/MM/ML). 이후 분석의 원료.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minimap2 -y로 태그 보존이 핵심. IGV 뷰어로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Isoform: CIGAR N→junction→exon chain. DTU는 DEG와 다른 질문.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Fusion: split alignment로 breakpoint. GENE_D--GENE_I 심음. 임상 표적치료 근거.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DEG: count→CPM→log2FC→Welch t. 한계는 DESeq2 대비 단순.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Poly-A: pt:i: 분포. 길이=안정성/반감기. 유전자별 기준값 상이.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m6A: MM/ML 해독, DRACH 검증, DMR 비교. DEG와 독립.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시나리오 표. 결과를 이 표와 대조하며 해석 훈련. DEG≠DMR.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공통 골격(FASTQ→align→분석), DNA=변이 vs RNA=발현/구조.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 + 흔한 오류 + 마무리 메시지.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6095848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6803136"/>
            <a:ext cx="6095848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0" y="640080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0" y="640080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40764" y="863194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56196" y="863194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123109" y="1086307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273851" y="1086307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00408" y="1309421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196552" y="1309421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53536" y="1532534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243424" y="1532534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994089" y="1755648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02871" y="1755648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761513" y="1978762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635447" y="1978762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513343" y="2201875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883617" y="2201875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310973" y="2424989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085987" y="2424989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204468" y="2648102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192492" y="2648102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220175" y="2871216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176785" y="2871216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354208" y="3094330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042752" y="3094330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573409" y="3317443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823551" y="3317443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823551" y="3540557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573409" y="3540557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042752" y="3763670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354208" y="3763670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176785" y="3986784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220175" y="3986784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192492" y="4209898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204468" y="4209898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1085987" y="4433011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310973" y="4433011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883617" y="4656125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513343" y="4656125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635447" y="4879238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761513" y="4879238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402871" y="5102352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994089" y="5102352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243424" y="5325466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153536" y="5325466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196552" y="5548579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1200408" y="5548579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273851" y="5771693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1123109" y="5771693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456196" y="5994806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940764" y="5994806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698480" y="6217920"/>
            <a:ext cx="100584" cy="100584"/>
          </a:xfrm>
          <a:prstGeom prst="ellipse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698480" y="6217920"/>
            <a:ext cx="100584" cy="100584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C6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BROWSER-NATIVE NGS  ·  NO SERVER · NO API COST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0080" y="2103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NGS 실습 해설</a:t>
            </a:r>
            <a:endParaRPr lang="en-US" sz="5000" dirty="0"/>
          </a:p>
        </p:txBody>
      </p:sp>
      <p:sp>
        <p:nvSpPr>
          <p:cNvPr id="59" name="Text 57"/>
          <p:cNvSpPr/>
          <p:nvPr/>
        </p:nvSpPr>
        <p:spPr>
          <a:xfrm>
            <a:off x="658368" y="32004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강의를 손으로 — 브라우저에서 진짜 NGS 파이프라인 돌리기</a:t>
            </a:r>
            <a:endParaRPr lang="en-US" sz="1900" dirty="0"/>
          </a:p>
        </p:txBody>
      </p:sp>
      <p:sp>
        <p:nvSpPr>
          <p:cNvPr id="60" name="Text 58"/>
          <p:cNvSpPr/>
          <p:nvPr/>
        </p:nvSpPr>
        <p:spPr>
          <a:xfrm>
            <a:off x="658368" y="3794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80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PyCell (단리드 DNA · 변이호출 · VCF)   →   Longread Lab (나노포어 RNA-seq · isoform · m6A)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61772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1B283C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8368" y="4617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1 · PyCell — DNA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114800" y="461772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1B283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0" y="4617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2 · Longread — RNA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58368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의료인을 위한 NGS 교육 · Part 1 실습편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오늘의 실습 — 두 개의 브라우저 랩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설치도 서버도 없이, 브라우저 안에서 진짜 도구가 실제로 돈다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5532120" cy="3108960"/>
          </a:xfrm>
          <a:prstGeom prst="roundRect">
            <a:avLst>
              <a:gd name="adj" fmla="val 2353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385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1 · PyCell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5120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단리드 DNA 변이호출 파이프라인 (강의 그대로 재현)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+ FASTQ → 정렬 → BAM → VCF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minimap2 · samtools · bcftools (WASM)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VCF 판독 · 오믹스 플롯(변이 시그니처 등)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783080"/>
            <a:ext cx="5532120" cy="3108960"/>
          </a:xfrm>
          <a:prstGeom prst="roundRect">
            <a:avLst>
              <a:gd name="adj" fmla="val 2353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385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2 · Longread Lab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2377440"/>
            <a:ext cx="5120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나노포어 롱리드 RNA-seq (합성데이터 10유전자)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전류신호→basecalling→정렬→분석 전 과정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isoform/splicing · DEG · poly-A · m6A · fusion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정답이 심어진 데이터로 '해석'을 연습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5074920"/>
            <a:ext cx="11201400" cy="1051560"/>
          </a:xfrm>
          <a:prstGeom prst="roundRect">
            <a:avLst>
              <a:gd name="adj" fmla="val 5217"/>
            </a:avLst>
          </a:prstGeom>
          <a:solidFill>
            <a:srgbClr val="1B283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17550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2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공통 엔진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5486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두 랩 모두 Pyodide(브라우저 안의 진짜 CPython) + biowasm WASM 바이너리로 동작 — 파일은 서버로 전송되지 않고 이 PC에서 계산된다. 합성데이터라 안전하고, 결과를 '정답'과 대조할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BRIDGE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강의 개념 → 실습 단계 연결 지도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강의에서 배운 각 개념이 어느 실습 버튼으로 이어지는가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강의 개념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1874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실습에서 손으로 하는 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194560"/>
            <a:ext cx="11201400" cy="749808"/>
          </a:xfrm>
          <a:prstGeom prst="roundRect">
            <a:avLst>
              <a:gd name="adj" fmla="val 9756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194560"/>
            <a:ext cx="73152" cy="74980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194560"/>
            <a:ext cx="4937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· FASTQ · Phred 품질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23560" y="2194560"/>
            <a:ext cx="365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80760" y="2194560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PyCell: wgsim 리드 생성 · FASTQ 4줄 검증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054096"/>
            <a:ext cx="11201400" cy="749808"/>
          </a:xfrm>
          <a:prstGeom prst="roundRect">
            <a:avLst>
              <a:gd name="adj" fmla="val 975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054096"/>
            <a:ext cx="73152" cy="74980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054096"/>
            <a:ext cx="4937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Mapping / Alignment (minimap2)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23560" y="3054096"/>
            <a:ext cx="365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80760" y="3054096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PyCell·Longread: minimap2 정렬 · SAM/BAM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913632"/>
            <a:ext cx="11201400" cy="749808"/>
          </a:xfrm>
          <a:prstGeom prst="roundRect">
            <a:avLst>
              <a:gd name="adj" fmla="val 9756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913632"/>
            <a:ext cx="73152" cy="74980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913632"/>
            <a:ext cx="4937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 · Depth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23560" y="3913632"/>
            <a:ext cx="365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80760" y="3913632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PyCell: Depth vs Quality QC · pileup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2920" y="4773168"/>
            <a:ext cx="11201400" cy="749808"/>
          </a:xfrm>
          <a:prstGeom prst="roundRect">
            <a:avLst>
              <a:gd name="adj" fmla="val 975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773168"/>
            <a:ext cx="73152" cy="74980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773168"/>
            <a:ext cx="4937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Variant calling · VCF 판독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23560" y="4773168"/>
            <a:ext cx="365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80760" y="4773168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PyCell: bcftools 변이호출 · VCF 구조/플롯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2920" y="5632704"/>
            <a:ext cx="11201400" cy="749808"/>
          </a:xfrm>
          <a:prstGeom prst="roundRect">
            <a:avLst>
              <a:gd name="adj" fmla="val 9756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5632704"/>
            <a:ext cx="73152" cy="7498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632704"/>
            <a:ext cx="4937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Long-read의 강점 (구조)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623560" y="5632704"/>
            <a:ext cx="365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80760" y="5632704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Longread: isoform · fusion · poly-A · m6A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시작 전 — 실습 환경 &amp; 주의사항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최초 실행 시 도구 다운로드에 시간이 걸릴 수 있다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5463540" cy="2057400"/>
          </a:xfrm>
          <a:prstGeom prst="roundRect">
            <a:avLst>
              <a:gd name="adj" fmla="val 355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28800"/>
            <a:ext cx="82296" cy="205740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057400"/>
            <a:ext cx="50063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브라우저만 있으면 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8952" y="2606040"/>
            <a:ext cx="49606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Chrome/Edge 등 최신 브라우저. 설치·로그인·서버 불필요. 파일은 이 PC에서만 처리된다.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0780" y="1828800"/>
            <a:ext cx="5463540" cy="2057400"/>
          </a:xfrm>
          <a:prstGeom prst="roundRect">
            <a:avLst>
              <a:gd name="adj" fmla="val 355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0780" y="1828800"/>
            <a:ext cx="82296" cy="2057400"/>
          </a:xfrm>
          <a:prstGeom prst="rect">
            <a:avLst/>
          </a:prstGeom>
          <a:solidFill>
            <a:srgbClr val="F2B24C"/>
          </a:solidFill>
          <a:ln/>
        </p:spPr>
      </p:sp>
      <p:sp>
        <p:nvSpPr>
          <p:cNvPr id="15" name="Text 13"/>
          <p:cNvSpPr/>
          <p:nvPr/>
        </p:nvSpPr>
        <p:spPr>
          <a:xfrm>
            <a:off x="6496812" y="2057400"/>
            <a:ext cx="50063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2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최초 로딩 대기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6812" y="2606040"/>
            <a:ext cx="49606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Pyodide(파이썬 런타임)와 minimap2/samtools/bcftools WASM을 CDN에서 내려받는다(수십 MB). 첫 실행은 수십 초~수 분.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160520"/>
            <a:ext cx="5463540" cy="2057400"/>
          </a:xfrm>
          <a:prstGeom prst="roundRect">
            <a:avLst>
              <a:gd name="adj" fmla="val 355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160520"/>
            <a:ext cx="82296" cy="2057400"/>
          </a:xfrm>
          <a:prstGeom prst="rect">
            <a:avLst/>
          </a:prstGeom>
          <a:solidFill>
            <a:srgbClr val="E0637A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4389120"/>
            <a:ext cx="50063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네트워크 주의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8952" y="4937760"/>
            <a:ext cx="49606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biowasm CDN 접근이 막힌 환경(일부 병원망)에서는 도구 다운로드가 실패할 수 있다 — 사전 테스트 권장.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40780" y="4160520"/>
            <a:ext cx="5463540" cy="2057400"/>
          </a:xfrm>
          <a:prstGeom prst="roundRect">
            <a:avLst>
              <a:gd name="adj" fmla="val 355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0780" y="4160520"/>
            <a:ext cx="82296" cy="20574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6496812" y="4389120"/>
            <a:ext cx="50063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순서대로 진행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6812" y="4937760"/>
            <a:ext cx="49606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각 단계는 앞 단계 결과에 의존한다. 탭/버튼을 순서대로 눌러야 한다(건너뛰면 '먼저 …하세요' 경고).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PyCell — 단리드 DNA 변이 파이프라인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96112" y="4114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강의(FASTQ→BAM→VCF·변이호출)를 손으로 그대로 재현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PyCell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PyCell — 로컬 파이썬 노트북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셀 기반 노트북 + 내장 NGS 파이프라인 패널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5532120" cy="4114800"/>
          </a:xfrm>
          <a:prstGeom prst="roundRect">
            <a:avLst>
              <a:gd name="adj" fmla="val 177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38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노트북 기능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코드 셀 추가·전체 실행·.ipynb 저장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패키지 설치: numpy · pandas · matplotlib · scipy · scikit-learn · biopython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파일 업로드 → 파이썬에서 경로로 접근 (예: open('/data/파일'))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실제 minimap2 · samtools · bcftools 감지 &amp; 실행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파일 뷰어(head/tail/줄수/검색)로 결과 직접 확인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783080"/>
            <a:ext cx="5532120" cy="4114800"/>
          </a:xfrm>
          <a:prstGeom prst="roundRect">
            <a:avLst>
              <a:gd name="adj" fmla="val 1778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38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두 가지 시작 방법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395728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내 파일로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reference(.fa)와 reads(.fastq)를 업로드해 바로 분석.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합성데이터로 (권장 시작점)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reference만 있으면 wgsim으로 가상 리드를 만들어 전 과정을 연습.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4754880"/>
            <a:ext cx="5074920" cy="960120"/>
          </a:xfrm>
          <a:prstGeom prst="roundRect">
            <a:avLst>
              <a:gd name="adj" fmla="val 5714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475488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핵심: 버튼마다 '무엇을·왜' 설명이 먼저 뜨고, 그 다음 직접 고칠 수 있는 파이썬 코드 셀이 생성된다.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PyCell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PyCell 파이프라인 — 한 장으로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입력에서 VCF까지, 각 버튼이 하나의 표준 단계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744980" cy="868680"/>
          </a:xfrm>
          <a:prstGeom prst="roundRect">
            <a:avLst>
              <a:gd name="adj" fmla="val 842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65960"/>
            <a:ext cx="17998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(+구간 자르기)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29612" y="1965960"/>
            <a:ext cx="182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94204" y="1965960"/>
            <a:ext cx="1744980" cy="868680"/>
          </a:xfrm>
          <a:prstGeom prst="roundRect">
            <a:avLst>
              <a:gd name="adj" fmla="val 842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66772" y="1965960"/>
            <a:ext cx="17998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wgsim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리드 생성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20896" y="1965960"/>
            <a:ext cx="182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85488" y="1965960"/>
            <a:ext cx="1744980" cy="868680"/>
          </a:xfrm>
          <a:prstGeom prst="roundRect">
            <a:avLst>
              <a:gd name="adj" fmla="val 842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8056" y="1965960"/>
            <a:ext cx="17998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minimap2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12180" y="1965960"/>
            <a:ext cx="182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76772" y="1965960"/>
            <a:ext cx="1744980" cy="868680"/>
          </a:xfrm>
          <a:prstGeom prst="roundRect">
            <a:avLst>
              <a:gd name="adj" fmla="val 842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9340" y="1965960"/>
            <a:ext cx="17998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samtools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sort·index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03464" y="1965960"/>
            <a:ext cx="182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68056" y="1965960"/>
            <a:ext cx="1744980" cy="868680"/>
          </a:xfrm>
          <a:prstGeom prst="roundRect">
            <a:avLst>
              <a:gd name="adj" fmla="val 842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0624" y="1965960"/>
            <a:ext cx="17998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bcftools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변이호출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94748" y="1965960"/>
            <a:ext cx="182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959340" y="1965960"/>
            <a:ext cx="1744980" cy="868680"/>
          </a:xfrm>
          <a:prstGeom prst="roundRect">
            <a:avLst>
              <a:gd name="adj" fmla="val 842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31908" y="1965960"/>
            <a:ext cx="17998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.vcf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291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합성 리드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331720" y="3346704"/>
            <a:ext cx="9372600" cy="329184"/>
          </a:xfrm>
          <a:prstGeom prst="roundRect">
            <a:avLst>
              <a:gd name="adj" fmla="val 11111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41448" y="3346704"/>
            <a:ext cx="9189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wgsim  ref.fa  →  reads.fastq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39502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③ 정렬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331720" y="4005072"/>
            <a:ext cx="9372600" cy="329184"/>
          </a:xfrm>
          <a:prstGeom prst="roundRect">
            <a:avLst>
              <a:gd name="adj" fmla="val 11111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41448" y="4005072"/>
            <a:ext cx="9189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minimap2 -a -x sr ref.fa reads.fastq &gt; aligned.sam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460857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④ 정리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331720" y="4663440"/>
            <a:ext cx="9372600" cy="329184"/>
          </a:xfrm>
          <a:prstGeom prst="roundRect">
            <a:avLst>
              <a:gd name="adj" fmla="val 11111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41448" y="4663440"/>
            <a:ext cx="9189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samtools sort aligned.sam -o aligned.sorted.bam &amp;&amp; samtools index …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526694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⑤ 변이호출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331720" y="5321808"/>
            <a:ext cx="9372600" cy="329184"/>
          </a:xfrm>
          <a:prstGeom prst="roundRect">
            <a:avLst>
              <a:gd name="adj" fmla="val 11111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41448" y="5321808"/>
            <a:ext cx="9189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bcftools mpileup -f ref.fa …sorted.bam | bcftools call -mv -Ov -o variants.vcf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각 단계는 실제 생물정보 표준 도구를 그대로 사용한다 — bcftools 변이호출은 GATK의 경량 대안이다.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PyCell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 · reference 준비 &amp; 구간 자르기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21208" y="1234440"/>
            <a:ext cx="7863840" cy="329184"/>
          </a:xfrm>
          <a:prstGeom prst="roundRect">
            <a:avLst>
              <a:gd name="adj" fmla="val 11111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23444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(권장) reference를 작은 구간으로 먼저 잘라두기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6263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reference가 크면(예: 대장균 4.6 Mb) 이후 정렬·변이호출이 전부 무거워진다.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관심 구간(contig 좌표)만 미리 잘라두면 wgsim·정렬·호출이 그 작은 구간 기준으로 가볍게 돈다.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낭비되는 리드도 없어 실습 속도가 빨라진다.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적용하면 원본 reference를 대체하고, 기존 FASTQ/정렬결과는 초기화된다.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1783080"/>
            <a:ext cx="4251960" cy="4114800"/>
          </a:xfrm>
          <a:prstGeom prst="roundRect">
            <a:avLst>
              <a:gd name="adj" fmla="val 1778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9659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왜 자르나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80960" y="23774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메모리 ↓  ·  속도 ↑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80960" y="2971800"/>
            <a:ext cx="3794760" cy="365760"/>
          </a:xfrm>
          <a:prstGeom prst="rect">
            <a:avLst/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29900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게놈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80960" y="3611880"/>
            <a:ext cx="1062533" cy="36576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26680" y="363016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4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관심 구간만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80960" y="44348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팁: 실제 패널 검사도 '타깃 영역'만 깊게 본다 — 같은 발상.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PyCell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· 합성 리드 생성 (wgsim)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21208" y="1234440"/>
            <a:ext cx="7863840" cy="329184"/>
          </a:xfrm>
          <a:prstGeom prst="roundRect">
            <a:avLst>
              <a:gd name="adj" fmla="val 11111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23444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wgsim  →  reads.fastq  (리드길이 · 커버리지 · 에러율 · 변이율)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6263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reference만 있으면 wgsim(실제 WASM)이 그 서열 기반 가상 시퀀싱 리드를 만든다.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조절 파라미터: 리드 길이(bp) · 커버리지(x) · 시퀀싱 에러율 · 변이(돌연변이)율.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변이율을 넣으면 나중에 bcftools가 찾아낼 '진짜 변이'가 데이터에 심긴다.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FASTQ = 4줄이 1 read: ①@ID ②서열 ③+ ④품질값(서열과 같은 길이).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1783080"/>
            <a:ext cx="4251960" cy="4114800"/>
          </a:xfrm>
          <a:prstGeom prst="roundRect">
            <a:avLst>
              <a:gd name="adj" fmla="val 1778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9659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FASTQ 4줄 구조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2423160"/>
            <a:ext cx="3794760" cy="566928"/>
          </a:xfrm>
          <a:prstGeom prst="roundRect">
            <a:avLst>
              <a:gd name="adj" fmla="val 6452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242316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@read1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84080" y="242316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80960" y="3081528"/>
            <a:ext cx="3794760" cy="566928"/>
          </a:xfrm>
          <a:prstGeom prst="roundRect">
            <a:avLst>
              <a:gd name="adj" fmla="val 6452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308152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ACGTACGT…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84080" y="308152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서열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80960" y="3739896"/>
            <a:ext cx="3794760" cy="566928"/>
          </a:xfrm>
          <a:prstGeom prst="roundRect">
            <a:avLst>
              <a:gd name="adj" fmla="val 6452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373989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84080" y="373989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구분선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80960" y="4398264"/>
            <a:ext cx="3794760" cy="566928"/>
          </a:xfrm>
          <a:prstGeom prst="roundRect">
            <a:avLst>
              <a:gd name="adj" fmla="val 6452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439826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B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IIIII…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84080" y="439826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품질(Phred+33)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680960" y="50749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품질 I≈Q40(좋음), #≈Q2(나쁨). wgsim은 대개 균일 품질.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PyCell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· 정렬 (minimap2)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21208" y="1234440"/>
            <a:ext cx="7863840" cy="329184"/>
          </a:xfrm>
          <a:prstGeom prst="roundRect">
            <a:avLst>
              <a:gd name="adj" fmla="val 11111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23444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minimap2 -a -x sr  ref.fa  reads.fastq  &gt;  aligned.sam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6263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정렬 = 각 read가 reference의 '어디에서 왔는지' 위치를 찾는 과정.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-x sr : short-read 프리셋. 결과는 SAM(사람이 읽는 텍스트).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 한 줄 = 한 read의 정렬 정보: 위치(POS)·품질(MAPQ)·모양(CIGAR)·플래그(FLAG).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위치 정보는 read 자체엔 없다 — 정렬이 비로소 '지도 위 좌표'를 부여한다.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1783080"/>
            <a:ext cx="4251960" cy="4114800"/>
          </a:xfrm>
          <a:prstGeom prst="roundRect">
            <a:avLst>
              <a:gd name="adj" fmla="val 1778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9659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 핵심 컬럼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80960" y="240487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23960" y="240487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비트마스크: 4=미매핑,16=역방향,256=보조정렬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3191256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CIGAR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23960" y="319125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정렬 모양: M/I/D/S (N=intron 건너뜀)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80960" y="39776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MAPQ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23960" y="3977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정렬 신뢰도(Phred)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0" y="4764024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 태그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23960" y="476402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distance(미스매치+indel)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PyCell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 · 정렬 결과 정리 (samtools)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21208" y="1234440"/>
            <a:ext cx="7863840" cy="329184"/>
          </a:xfrm>
          <a:prstGeom prst="roundRect">
            <a:avLst>
              <a:gd name="adj" fmla="val 11111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23444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samtools sort aligned.sam -o aligned.sorted.bam  &amp;&amp;  samtools index 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6263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SAM을 좌표순으로 정렬(sort)하고 BAM(이진 압축)으로 바꾼 뒤 색인(index)한다.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BAM = SAM과 내용은 같고 용량만 작다(예: 20 MB → 3.8 MB).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BAM은 바이너리라 직접 못 열고 'samtools view'로 다시 텍스트화한다.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index가 있어야 IGV 등 뷰어가 특정 구간을 빠르게 찾아 그린다.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1783080"/>
            <a:ext cx="4251960" cy="4114800"/>
          </a:xfrm>
          <a:prstGeom prst="roundRect">
            <a:avLst>
              <a:gd name="adj" fmla="val 1778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9659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 vs BAM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2423160"/>
            <a:ext cx="3794760" cy="914400"/>
          </a:xfrm>
          <a:prstGeom prst="roundRect">
            <a:avLst>
              <a:gd name="adj" fmla="val 6000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24231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  </a:t>
            </a:r>
            <a:pPr indent="0" marL="0">
              <a:buNone/>
            </a:pPr>
            <a:r>
              <a:rPr lang="en-US" sz="1200" dirty="0">
                <a:solidFill>
                  <a:srgbClr val="93A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텍스트 · 사람이 읽음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18120" y="28803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BAM  </a:t>
            </a:r>
            <a:pPr indent="0" marL="0">
              <a:buNone/>
            </a:pPr>
            <a:r>
              <a:rPr lang="en-US" sz="1200" dirty="0">
                <a:solidFill>
                  <a:srgbClr val="93A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이진 압축 · 작고 빠름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80960" y="361188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정렬(sort) → 색인(index) 순서가 필수. IGV/pileup은 이 index를 사용한다.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PyCell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 · 변이 호출 (bcftools)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21208" y="1234440"/>
            <a:ext cx="7863840" cy="329184"/>
          </a:xfrm>
          <a:prstGeom prst="roundRect">
            <a:avLst>
              <a:gd name="adj" fmla="val 11111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23444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bcftools mpileup -f ref.fa …sorted.bam | bcftools call -mv -Ov -o variants.vcf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6263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mpileup: 각 위치를 덮은 read들을 쌓아(pileup) reference와 비교.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-mv: 변이(variant)만 골라 VCF로 출력. GATK의 경량 대안.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결과 variants.vcf에 위치·REF/ALT·품질·depth·유전형이 담긴다.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여기서 심어둔 변이율만큼의 '진짜 변이'가 실제로 검출되는지 확인한다.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1783080"/>
            <a:ext cx="4251960" cy="4114800"/>
          </a:xfrm>
          <a:prstGeom prst="roundRect">
            <a:avLst>
              <a:gd name="adj" fmla="val 1778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9659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pileup → 변이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0" y="2468880"/>
            <a:ext cx="3611880" cy="128016"/>
          </a:xfrm>
          <a:prstGeom prst="rect">
            <a:avLst/>
          </a:prstGeom>
          <a:solidFill>
            <a:srgbClr val="6E8095"/>
          </a:solidFill>
          <a:ln/>
        </p:spPr>
      </p:sp>
      <p:sp>
        <p:nvSpPr>
          <p:cNvPr id="15" name="Text 13"/>
          <p:cNvSpPr/>
          <p:nvPr/>
        </p:nvSpPr>
        <p:spPr>
          <a:xfrm>
            <a:off x="11064240" y="24414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863840" y="2724912"/>
            <a:ext cx="3246120" cy="146304"/>
          </a:xfrm>
          <a:prstGeom prst="rect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758934" y="2724912"/>
            <a:ext cx="146304" cy="146304"/>
          </a:xfrm>
          <a:prstGeom prst="rect">
            <a:avLst/>
          </a:prstGeom>
          <a:solidFill>
            <a:srgbClr val="E0637A"/>
          </a:solidFill>
          <a:ln/>
        </p:spPr>
      </p:sp>
      <p:sp>
        <p:nvSpPr>
          <p:cNvPr id="18" name="Shape 16"/>
          <p:cNvSpPr/>
          <p:nvPr/>
        </p:nvSpPr>
        <p:spPr>
          <a:xfrm>
            <a:off x="8001000" y="2962656"/>
            <a:ext cx="3246120" cy="146304"/>
          </a:xfrm>
          <a:prstGeom prst="rect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758934" y="2962656"/>
            <a:ext cx="146304" cy="146304"/>
          </a:xfrm>
          <a:prstGeom prst="rect">
            <a:avLst/>
          </a:prstGeom>
          <a:solidFill>
            <a:srgbClr val="E0637A"/>
          </a:solidFill>
          <a:ln/>
        </p:spPr>
      </p:sp>
      <p:sp>
        <p:nvSpPr>
          <p:cNvPr id="20" name="Shape 18"/>
          <p:cNvSpPr/>
          <p:nvPr/>
        </p:nvSpPr>
        <p:spPr>
          <a:xfrm>
            <a:off x="7863840" y="3200400"/>
            <a:ext cx="3246120" cy="146304"/>
          </a:xfrm>
          <a:prstGeom prst="rect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758934" y="3200400"/>
            <a:ext cx="146304" cy="146304"/>
          </a:xfrm>
          <a:prstGeom prst="rect">
            <a:avLst/>
          </a:prstGeom>
          <a:solidFill>
            <a:srgbClr val="E0637A"/>
          </a:solidFill>
          <a:ln/>
        </p:spPr>
      </p:sp>
      <p:sp>
        <p:nvSpPr>
          <p:cNvPr id="22" name="Shape 20"/>
          <p:cNvSpPr/>
          <p:nvPr/>
        </p:nvSpPr>
        <p:spPr>
          <a:xfrm>
            <a:off x="8001000" y="3438144"/>
            <a:ext cx="3246120" cy="146304"/>
          </a:xfrm>
          <a:prstGeom prst="rect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758934" y="3438144"/>
            <a:ext cx="146304" cy="146304"/>
          </a:xfrm>
          <a:prstGeom prst="rect">
            <a:avLst/>
          </a:prstGeom>
          <a:solidFill>
            <a:srgbClr val="E0637A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0" y="3675888"/>
            <a:ext cx="3246120" cy="146304"/>
          </a:xfrm>
          <a:prstGeom prst="rect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758934" y="3675888"/>
            <a:ext cx="146304" cy="146304"/>
          </a:xfrm>
          <a:prstGeom prst="rect">
            <a:avLst/>
          </a:prstGeom>
          <a:solidFill>
            <a:srgbClr val="E0637A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406908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빨강 = 여러 read가 같은 위치에서 reference와 다름 → 변이 후보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PyCell · 포맷 가이드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포맷 가이드 ① — FASTQ &amp; 품질값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분석의 원재료: read와 그 신뢰도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6766560" cy="4023360"/>
          </a:xfrm>
          <a:prstGeom prst="roundRect">
            <a:avLst>
              <a:gd name="adj" fmla="val 181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933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FASTQ = 4줄이 1 read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6309360" cy="621792"/>
          </a:xfrm>
          <a:prstGeom prst="roundRect">
            <a:avLst>
              <a:gd name="adj" fmla="val 5882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468880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46888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@read_001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89120" y="246888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이름(ID)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6309360" cy="621792"/>
          </a:xfrm>
          <a:prstGeom prst="roundRect">
            <a:avLst>
              <a:gd name="adj" fmla="val 5882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00400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320040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ACGTACGTACGT…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89120" y="320040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염기서열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6309360" cy="621792"/>
          </a:xfrm>
          <a:prstGeom prst="roundRect">
            <a:avLst>
              <a:gd name="adj" fmla="val 5882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931920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393192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389120" y="393192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구분선(가끔 ID 반복)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4663440"/>
            <a:ext cx="6309360" cy="621792"/>
          </a:xfrm>
          <a:prstGeom prst="roundRect">
            <a:avLst>
              <a:gd name="adj" fmla="val 5882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663440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466344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B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IIIIHHHH####…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389120" y="466344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품질값 — 서열과 같은 길이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52360" y="1828800"/>
            <a:ext cx="4251960" cy="4023360"/>
          </a:xfrm>
          <a:prstGeom prst="roundRect">
            <a:avLst>
              <a:gd name="adj" fmla="val 1818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1993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2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Phred+33 품질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726680" y="246888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ASCII 코드 − 33 = Phred 품질값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문자 I → Q40 (매우 좋음)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문자 # → Q2 (매우 나쁨)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Q30 = 오류확률 1/1000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680960" y="489204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18120" y="4892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wgsim 리드는 대개 품질이 균일(Q20) — 실제 시퀀서보다 단순화된 것.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PyCell · 포맷 가이드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포맷 가이드 ② — SAM / BAM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정렬 결과를 읽는 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 컬럼 순서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QNAME  FLAG  RNAME  POS  MAPQ  CIGAR  RNEXT  PNEXT  TLEN  SEQ  QUAL  [태그들]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42900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429000"/>
            <a:ext cx="73152" cy="77724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290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3429000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비트마스크 — 4=미매핑 · 16=역방향 가닥 · 256=보조정렬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315968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315968"/>
            <a:ext cx="73152" cy="7772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1596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CIGAR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68880" y="4315968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정렬 모양 — M=일치/불일치 · I=삽입 · D=결실 · S=soft-clip · N=intron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202936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5202936"/>
            <a:ext cx="73152" cy="777240"/>
          </a:xfrm>
          <a:prstGeom prst="rect">
            <a:avLst/>
          </a:prstGeom>
          <a:solidFill>
            <a:srgbClr val="F2B24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202936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 태그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468880" y="5202936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distance = 미스매치+indel 총 개수 (미스매치율 계산 근거)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BAM은 SAM의 이진 압축본 — 내용 동일, 용량만 작다. samtools view로 텍스트화해서 본다.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PyCell · 포맷 가이드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포맷 가이드 ③ — VCF 구조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변이호출의 최종 산출물 (강의 핵심 판독 대상)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11201400" cy="1234440"/>
          </a:xfrm>
          <a:prstGeom prst="roundRect">
            <a:avLst>
              <a:gd name="adj" fmla="val 592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745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80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##</a:t>
            </a:r>
            <a:pPr indent="0" marL="0">
              <a:buNone/>
            </a:pPr>
            <a:r>
              <a:rPr lang="en-US" sz="12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로 시작 = 메타데이터(INFO/FORMAT 정의)   ·   </a:t>
            </a:r>
            <a:pPr indent="0" marL="0">
              <a:buNone/>
            </a:pPr>
            <a:r>
              <a:rPr lang="en-US" sz="1250" b="1" dirty="0">
                <a:solidFill>
                  <a:srgbClr val="F2B2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#CHROM</a:t>
            </a:r>
            <a:pPr indent="0" marL="0">
              <a:buNone/>
            </a:pPr>
            <a:r>
              <a:rPr lang="en-US" sz="12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줄 = 데이터 컬럼 이름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  POS  ID  REF  ALT  QUAL  FILTER  INFO  FORMAT  SAMPLE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291840"/>
            <a:ext cx="5545836" cy="749808"/>
          </a:xfrm>
          <a:prstGeom prst="roundRect">
            <a:avLst>
              <a:gd name="adj" fmla="val 9756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291840"/>
            <a:ext cx="73152" cy="74980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9184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3291840"/>
            <a:ext cx="32598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변이콜 신뢰도(Phred, 높을수록 확실)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58484" y="3291840"/>
            <a:ext cx="5545836" cy="749808"/>
          </a:xfrm>
          <a:prstGeom prst="roundRect">
            <a:avLst>
              <a:gd name="adj" fmla="val 975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58484" y="3291840"/>
            <a:ext cx="73152" cy="74980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8" name="Text 16"/>
          <p:cNvSpPr/>
          <p:nvPr/>
        </p:nvSpPr>
        <p:spPr>
          <a:xfrm>
            <a:off x="6387084" y="329184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INFO: DP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61604" y="3291840"/>
            <a:ext cx="32598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depth — 그 위치를 덮은 read 수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151376"/>
            <a:ext cx="5545836" cy="749808"/>
          </a:xfrm>
          <a:prstGeom prst="roundRect">
            <a:avLst>
              <a:gd name="adj" fmla="val 9756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151376"/>
            <a:ext cx="73152" cy="74980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151376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INFO: AF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06040" y="4151376"/>
            <a:ext cx="32598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alternate allele 비율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58484" y="4151376"/>
            <a:ext cx="5545836" cy="749808"/>
          </a:xfrm>
          <a:prstGeom prst="roundRect">
            <a:avLst>
              <a:gd name="adj" fmla="val 975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58484" y="4151376"/>
            <a:ext cx="73152" cy="7498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6387084" y="4151376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61604" y="4151376"/>
            <a:ext cx="32598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genotype: 0/0 ref · 0/1 이형접합 · 1/1 alt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5010912"/>
            <a:ext cx="5545836" cy="749808"/>
          </a:xfrm>
          <a:prstGeom prst="roundRect">
            <a:avLst>
              <a:gd name="adj" fmla="val 9756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5010912"/>
            <a:ext cx="73152" cy="7498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010912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06040" y="5010912"/>
            <a:ext cx="32598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각 genotype 우도(작을수록 그 유전형일 가능성↑)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58484" y="5010912"/>
            <a:ext cx="5545836" cy="749808"/>
          </a:xfrm>
          <a:prstGeom prst="roundRect">
            <a:avLst>
              <a:gd name="adj" fmla="val 975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58484" y="5010912"/>
            <a:ext cx="73152" cy="749808"/>
          </a:xfrm>
          <a:prstGeom prst="rect">
            <a:avLst/>
          </a:prstGeom>
          <a:solidFill>
            <a:srgbClr val="F2B24C"/>
          </a:solidFill>
          <a:ln/>
        </p:spPr>
      </p:sp>
      <p:sp>
        <p:nvSpPr>
          <p:cNvPr id="34" name="Text 32"/>
          <p:cNvSpPr/>
          <p:nvPr/>
        </p:nvSpPr>
        <p:spPr>
          <a:xfrm>
            <a:off x="6387084" y="5010912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61604" y="5010912"/>
            <a:ext cx="32598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여부 등 품질 필터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PyCell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내장 도구 — 파일 뷰어 &amp; 검증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생성된 파일의 실제 바이트를 직접 확인한다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5463540" cy="2057400"/>
          </a:xfrm>
          <a:prstGeom prst="roundRect">
            <a:avLst>
              <a:gd name="adj" fmla="val 355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28800"/>
            <a:ext cx="82296" cy="205740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057400"/>
            <a:ext cx="50063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파일 뷰어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8952" y="2606040"/>
            <a:ext cx="49606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처음 20줄 / 마지막 20줄 / 줄 수 세기 / 패턴 검색 — head·tail·wc·grep을 브라우저에서.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0780" y="1828800"/>
            <a:ext cx="5463540" cy="2057400"/>
          </a:xfrm>
          <a:prstGeom prst="roundRect">
            <a:avLst>
              <a:gd name="adj" fmla="val 355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0780" y="1828800"/>
            <a:ext cx="82296" cy="20574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6496812" y="2057400"/>
            <a:ext cx="50063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FASTQ 4줄 검증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6812" y="2606040"/>
            <a:ext cx="49606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각 read가 정확히 4줄 구조인지, 서열·품질 길이가 일치하는지 자동 점검.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160520"/>
            <a:ext cx="5463540" cy="2057400"/>
          </a:xfrm>
          <a:prstGeom prst="roundRect">
            <a:avLst>
              <a:gd name="adj" fmla="val 355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160520"/>
            <a:ext cx="82296" cy="2057400"/>
          </a:xfrm>
          <a:prstGeom prst="rect">
            <a:avLst/>
          </a:prstGeom>
          <a:solidFill>
            <a:srgbClr val="F2B24C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4389120"/>
            <a:ext cx="50063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2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미스매치 리드 비율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8952" y="4937760"/>
            <a:ext cx="49606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NM 태그를 읽어 미스매치를 포함한 read 비율을 계산 — 데이터 품질 감각.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40780" y="4160520"/>
            <a:ext cx="5463540" cy="2057400"/>
          </a:xfrm>
          <a:prstGeom prst="roundRect">
            <a:avLst>
              <a:gd name="adj" fmla="val 3556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0780" y="4160520"/>
            <a:ext cx="82296" cy="2057400"/>
          </a:xfrm>
          <a:prstGeom prst="rect">
            <a:avLst/>
          </a:prstGeom>
          <a:solidFill>
            <a:srgbClr val="9B8C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96812" y="4389120"/>
            <a:ext cx="50063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BAM 자동 텍스트화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6812" y="4937760"/>
            <a:ext cx="49606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BAM은 바이너리라 samtools view로 변환해서 내용을 표시.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PyCell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오믹스 스타일 분석 — VCF 기반 플롯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변이를 임상·연구 관점으로 시각화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153412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1534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0253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기본 통계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SNP/INDEL 개수 · Ti/Tv 비율 — 데이터 sanity check의 기본 지표.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962656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241548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2415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09067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96-context 시그니처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38144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COSMIC 스타일 변이 시그니처 — 발암 원인(예: 흡연·UV) 패턴 추정. reference 필요.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050792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329684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3296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17880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게놈 위치 분포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5262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변이가 어느 좌표에 몰려 있는지 — 핫스팟·아티팩트 파악.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5138928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5417820"/>
            <a:ext cx="402336" cy="402336"/>
          </a:xfrm>
          <a:prstGeom prst="ellipse">
            <a:avLst/>
          </a:prstGeom>
          <a:solidFill>
            <a:srgbClr val="1B283C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54178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526694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Depth vs Quality QC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5614416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각 변이의 depth와 품질 산점도 — 저depth·저품질 콜 걸러내기.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635240" y="1874520"/>
            <a:ext cx="4069080" cy="3977640"/>
          </a:xfrm>
          <a:prstGeom prst="roundRect">
            <a:avLst>
              <a:gd name="adj" fmla="val 1839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2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읽는 요령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863840" y="2423160"/>
            <a:ext cx="3611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Ti/Tv가 기대범위(WGS≈2.0~2.1)를 크게 벗어나면 아티팩트 의심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저depth·저품질 콜은 위양성 위험 → 필터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시그니처는 원인 가설이지 확정 아님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합성데이터라 심어둔 변이율과 대조 가능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PyCell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PyCell 정리 &amp; 자주 막히는 지점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실습 전 체크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5532120" cy="4023360"/>
          </a:xfrm>
          <a:prstGeom prst="roundRect">
            <a:avLst>
              <a:gd name="adj" fmla="val 181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7510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흐름 한 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업로드/wgsim → minimap2 → samtools → bcftools → VCF 판독·플롯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 순서가 강의의 'FASTQ→BAM→VCF' 흐름과 정확히 일치한다.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배우는 감각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1148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depth가 변이 검출의 전제임을 체감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VCF 필드를 직접 눈으로 판독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품질/미스매치로 데이터 신뢰도 판단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828800"/>
            <a:ext cx="5532120" cy="4023360"/>
          </a:xfrm>
          <a:prstGeom prst="roundRect">
            <a:avLst>
              <a:gd name="adj" fmla="val 1818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97510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자주 막히는 지점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242316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CDN 차단 환경: 도구 다운로드 실패 → 사전 테스트 필요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reference가 크면 느림 → 먼저 구간 자르기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단계 건너뜀: 정렬 없이 변이호출 불가 → 순서 준수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메모리: 분석 영역(bp)을 제한해 부담 완화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wgsim 균일 품질 → 실제 시퀀서와 다름을 인지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Longread Lab — 나노포어 RNA-seq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96112" y="4114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전류신호에서 isoform·m6A·fusion까지, 롱리드만의 강점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Longread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Longread Lab — 6단계 개요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합성데이터(10 유전자)로 나노포어 RNA-seq 전 과정을 직접 실행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744980" cy="868680"/>
          </a:xfrm>
          <a:prstGeom prst="roundRect">
            <a:avLst>
              <a:gd name="adj" fmla="val 842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20240"/>
            <a:ext cx="17998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데이터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생성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29612" y="1920240"/>
            <a:ext cx="182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94204" y="1920240"/>
            <a:ext cx="1744980" cy="868680"/>
          </a:xfrm>
          <a:prstGeom prst="roundRect">
            <a:avLst>
              <a:gd name="adj" fmla="val 842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66772" y="1920240"/>
            <a:ext cx="17998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정렬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IGV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20896" y="1920240"/>
            <a:ext cx="182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85488" y="1920240"/>
            <a:ext cx="1744980" cy="868680"/>
          </a:xfrm>
          <a:prstGeom prst="roundRect">
            <a:avLst>
              <a:gd name="adj" fmla="val 842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8056" y="1920240"/>
            <a:ext cx="17998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Isoform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/Splicing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12180" y="1920240"/>
            <a:ext cx="182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76772" y="1920240"/>
            <a:ext cx="1744980" cy="868680"/>
          </a:xfrm>
          <a:prstGeom prst="roundRect">
            <a:avLst>
              <a:gd name="adj" fmla="val 842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9340" y="1920240"/>
            <a:ext cx="17998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DEG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03464" y="1920240"/>
            <a:ext cx="182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68056" y="1920240"/>
            <a:ext cx="1744980" cy="868680"/>
          </a:xfrm>
          <a:prstGeom prst="roundRect">
            <a:avLst>
              <a:gd name="adj" fmla="val 8421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0624" y="1920240"/>
            <a:ext cx="17998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Poly-A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94748" y="1920240"/>
            <a:ext cx="182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959340" y="1920240"/>
            <a:ext cx="1744980" cy="868680"/>
          </a:xfrm>
          <a:prstGeom prst="roundRect">
            <a:avLst>
              <a:gd name="adj" fmla="val 8421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31908" y="1920240"/>
            <a:ext cx="17998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m6A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200400"/>
            <a:ext cx="11201400" cy="2651760"/>
          </a:xfrm>
          <a:prstGeom prst="roundRect">
            <a:avLst>
              <a:gd name="adj" fmla="val 2759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34670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 실습이 답하는 질문들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" y="37947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1B283C"/>
          </a:solidFill>
          <a:ln w="12700">
            <a:solidFill>
              <a:srgbClr val="1E9E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950208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Isoform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9808" y="43891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한 RNA가 어떤 exon을 이어 붙였나 (구조)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71216" y="37947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1B283C"/>
          </a:solidFill>
          <a:ln w="12700">
            <a:solidFill>
              <a:srgbClr val="1E9E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71216" y="3950208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980944" y="43891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조건 간 유전자 발현량이 다른가 (양)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02352" y="37947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1B283C"/>
          </a:solidFill>
          <a:ln w="12700">
            <a:solidFill>
              <a:srgbClr val="1E9E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3950208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Poly-A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12080" y="43891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3' 꼬리 길이가 다른가 (안정성)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33488" y="37947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1B283C"/>
          </a:solidFill>
          <a:ln w="12700">
            <a:solidFill>
              <a:srgbClr val="1E9E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33488" y="3950208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m6A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43216" y="43891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RNA 화학 변형이 조건 간 다른가 (수식)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564624" y="37947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1B283C"/>
          </a:solidFill>
          <a:ln w="12700">
            <a:solidFill>
              <a:srgbClr val="1E9E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64624" y="3950208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Fusion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674352" y="43891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두 유전자가 하나로 융합됐나 (암)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Longread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1a · 나노포어 원리 — 신호에서 서열로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전류 신호(squiggle) → basecalling → 염기서열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11201400" cy="2011680"/>
          </a:xfrm>
          <a:prstGeom prst="roundRect">
            <a:avLst>
              <a:gd name="adj" fmla="val 3636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38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전류 신호 (squiggle)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834640"/>
            <a:ext cx="173736" cy="34039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" y="3175038"/>
            <a:ext cx="173736" cy="208545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0432" y="3383583"/>
            <a:ext cx="173736" cy="416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44168" y="3387744"/>
            <a:ext cx="173736" cy="-18176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17904" y="3205984"/>
            <a:ext cx="173736" cy="-268849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91640" y="2937134"/>
            <a:ext cx="173736" cy="-224495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65376" y="2712639"/>
            <a:ext cx="173736" cy="-78382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39112" y="2634257"/>
            <a:ext cx="173736" cy="92311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12848" y="2726568"/>
            <a:ext cx="173736" cy="200017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86584" y="2926585"/>
            <a:ext cx="173736" cy="188657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3115243"/>
            <a:ext cx="173736" cy="60535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34056" y="3175778"/>
            <a:ext cx="173736" cy="-124459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07792" y="3051319"/>
            <a:ext cx="173736" cy="-27697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81528" y="2774341"/>
            <a:ext cx="173736" cy="-320466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55264" y="2453875"/>
            <a:ext cx="173736" cy="-22762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2226255"/>
            <a:ext cx="173736" cy="-33885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02736" y="2192370"/>
            <a:ext cx="173736" cy="178429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76472" y="2370799"/>
            <a:ext cx="173736" cy="318026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50208" y="2688825"/>
            <a:ext cx="173736" cy="326739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23944" y="3015564"/>
            <a:ext cx="173736" cy="20617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0" y="3221741"/>
            <a:ext cx="173736" cy="16425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71416" y="3238167"/>
            <a:ext cx="173736" cy="-152541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45152" y="3085626"/>
            <a:ext cx="173736" cy="-223239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18888" y="2862387"/>
            <a:ext cx="173736" cy="-166931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92624" y="2695456"/>
            <a:ext cx="173736" cy="-16712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2678744"/>
            <a:ext cx="173736" cy="148687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40096" y="2827430"/>
            <a:ext cx="173736" cy="24269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13832" y="3070129"/>
            <a:ext cx="173736" cy="21246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87568" y="3282597"/>
            <a:ext cx="173736" cy="6453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61304" y="3347135"/>
            <a:ext cx="173736" cy="-137502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0" y="3209633"/>
            <a:ext cx="173736" cy="-302345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08776" y="2907288"/>
            <a:ext cx="173736" cy="-353562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82512" y="2553726"/>
            <a:ext cx="173736" cy="-26544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56248" y="2288286"/>
            <a:ext cx="173736" cy="-75229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29984" y="2213057"/>
            <a:ext cx="173736" cy="133975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03720" y="2347032"/>
            <a:ext cx="173736" cy="271705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77456" y="2618737"/>
            <a:ext cx="173736" cy="28191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51192" y="2900654"/>
            <a:ext cx="173736" cy="168516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24928" y="3069171"/>
            <a:ext cx="173736" cy="-7314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98664" y="3061857"/>
            <a:ext cx="173736" cy="-15663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72400" y="2905227"/>
            <a:ext cx="173736" cy="-205159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46136" y="2700067"/>
            <a:ext cx="173736" cy="-128616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19872" y="2571451"/>
            <a:ext cx="173736" cy="35736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93608" y="2607187"/>
            <a:ext cx="173736" cy="206734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67344" y="2813921"/>
            <a:ext cx="173736" cy="297849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41080" y="3111770"/>
            <a:ext cx="173736" cy="258472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14816" y="3370242"/>
            <a:ext cx="173736" cy="98451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988552" y="3468694"/>
            <a:ext cx="173736" cy="-115713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62288" y="3352981"/>
            <a:ext cx="173736" cy="-291307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336024" y="3061674"/>
            <a:ext cx="173736" cy="-35224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09760" y="2709426"/>
            <a:ext cx="173736" cy="-274243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683496" y="2435182"/>
            <a:ext cx="173736" cy="-95802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857232" y="2339380"/>
            <a:ext cx="173736" cy="100051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030968" y="2439431"/>
            <a:ext cx="173736" cy="224737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204704" y="2664168"/>
            <a:ext cx="173736" cy="22544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378440" y="2889616"/>
            <a:ext cx="173736" cy="109425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552176" y="2999041"/>
            <a:ext cx="173736" cy="-60169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725912" y="2938873"/>
            <a:ext cx="173736" cy="-194774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899648" y="2744099"/>
            <a:ext cx="173736" cy="-222925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2960" y="3429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C  G  U  A  C  …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502920" y="4069080"/>
            <a:ext cx="5532120" cy="1783080"/>
          </a:xfrm>
          <a:prstGeom prst="roundRect">
            <a:avLst>
              <a:gd name="adj" fmla="val 4103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1520" y="4206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신호 기록 (pod5)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731520" y="457200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RNA 가닥이 아주 작은 구멍(pore)을 통과할 때 흐르는 전류의 미세 변화를 시계열로 기록한다.</a:t>
            </a:r>
            <a:endParaRPr lang="en-US" sz="1250" dirty="0"/>
          </a:p>
        </p:txBody>
      </p:sp>
      <p:sp>
        <p:nvSpPr>
          <p:cNvPr id="74" name="Shape 72"/>
          <p:cNvSpPr/>
          <p:nvPr/>
        </p:nvSpPr>
        <p:spPr>
          <a:xfrm>
            <a:off x="6172200" y="4069080"/>
            <a:ext cx="5532120" cy="1783080"/>
          </a:xfrm>
          <a:prstGeom prst="roundRect">
            <a:avLst>
              <a:gd name="adj" fmla="val 4103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00800" y="4206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Basecalling (dorado)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6400800" y="457200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신경망이 이 전류 신호를 A/C/G/U 서열로 번역한다. 실습의 시뮬레이션은 '신호구간 1=염기 1'로 단순화한 교육용 재현.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Longread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1b · 학습용 리드 생성 (태그 포함)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21208" y="1234440"/>
            <a:ext cx="7863840" cy="329184"/>
          </a:xfrm>
          <a:prstGeom prst="roundRect">
            <a:avLst>
              <a:gd name="adj" fmla="val 11111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23444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리드 FASTQ 헤더에 poly-A 길이 · m6A 정보가 태그로 담긴다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6263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3개 전사체 × 4개 샘플(cond1_rep1/2, cond2_rep1/2)의 '이미 basecalling된' 리드를 만든다.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각 리드는 실제 dorado 출력처럼 헤더에 태그를 담는다 — 이게 이후 분석의 원료.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샘플당 리드 수 · 시퀀싱 에러율 · 랜덤 시드를 조절할 수 있다.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 태그들이 뒤 단계(poly-A·m6A 분석)의 입력이 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1783080"/>
            <a:ext cx="4251960" cy="4114800"/>
          </a:xfrm>
          <a:prstGeom prst="roundRect">
            <a:avLst>
              <a:gd name="adj" fmla="val 1778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9659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리드에 담기는 태그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2441448"/>
            <a:ext cx="3794760" cy="658368"/>
          </a:xfrm>
          <a:prstGeom prst="roundRect">
            <a:avLst>
              <a:gd name="adj" fmla="val 6944"/>
            </a:avLst>
          </a:prstGeom>
          <a:solidFill>
            <a:srgbClr val="0B14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36408" y="244144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pt:i: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555480" y="244144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poly-A 길이(정수)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80960" y="3209544"/>
            <a:ext cx="3794760" cy="658368"/>
          </a:xfrm>
          <a:prstGeom prst="roundRect">
            <a:avLst>
              <a:gd name="adj" fmla="val 6944"/>
            </a:avLst>
          </a:prstGeom>
          <a:solidFill>
            <a:srgbClr val="0B1422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36408" y="320954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MM:Z: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55480" y="3209544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변형 위치(m6A)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80960" y="3977640"/>
            <a:ext cx="3794760" cy="658368"/>
          </a:xfrm>
          <a:prstGeom prst="roundRect">
            <a:avLst>
              <a:gd name="adj" fmla="val 6944"/>
            </a:avLst>
          </a:prstGeom>
          <a:solidFill>
            <a:srgbClr val="0B1422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36408" y="39776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ML:B:C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55480" y="397764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변형 확신도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80960" y="4764024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실제 modkit/dorado 문서와 동일한 태그 포맷.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Longread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· 정렬 (minimap2 -y) &amp; IGV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21208" y="1234440"/>
            <a:ext cx="7863840" cy="329184"/>
          </a:xfrm>
          <a:prstGeom prst="roundRect">
            <a:avLst>
              <a:gd name="adj" fmla="val 11111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23444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-y 옵션으로 FASTQ 태그(pt/MM/ML)를 SAM까지 그대로 보존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6263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-y 옵션 없이 정렬하면 poly-A·m6A 태그가 사라진다 — 뒤 분석이 불가능.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실제 Nanopore 파이프라인이 dorado→minimap2로 이어줄 때 쓰는 정식 방법이다.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samtools로 정리한 뒤, IGV 스타일 뷰어로 리드를 눈으로 확인한다.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뷰어에서 정방향/역방향 리드·미스매치·coverage(pileup)를 색으로 구분해 본다.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1783080"/>
            <a:ext cx="4251960" cy="4114800"/>
          </a:xfrm>
          <a:prstGeom prst="roundRect">
            <a:avLst>
              <a:gd name="adj" fmla="val 1778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9659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IGV 스타일 뷰어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26680" y="2651760"/>
            <a:ext cx="201168" cy="411480"/>
          </a:xfrm>
          <a:prstGeom prst="rect">
            <a:avLst/>
          </a:prstGeom>
          <a:solidFill>
            <a:srgbClr val="1E9E77"/>
          </a:solidFill>
          <a:ln/>
        </p:spPr>
      </p:sp>
      <p:sp>
        <p:nvSpPr>
          <p:cNvPr id="15" name="Shape 13"/>
          <p:cNvSpPr/>
          <p:nvPr/>
        </p:nvSpPr>
        <p:spPr>
          <a:xfrm>
            <a:off x="7982712" y="2697480"/>
            <a:ext cx="201168" cy="365760"/>
          </a:xfrm>
          <a:prstGeom prst="rect">
            <a:avLst/>
          </a:prstGeom>
          <a:solidFill>
            <a:srgbClr val="1E9E77"/>
          </a:solidFill>
          <a:ln/>
        </p:spPr>
      </p:sp>
      <p:sp>
        <p:nvSpPr>
          <p:cNvPr id="16" name="Shape 14"/>
          <p:cNvSpPr/>
          <p:nvPr/>
        </p:nvSpPr>
        <p:spPr>
          <a:xfrm>
            <a:off x="8238744" y="2743200"/>
            <a:ext cx="201168" cy="320040"/>
          </a:xfrm>
          <a:prstGeom prst="rect">
            <a:avLst/>
          </a:prstGeom>
          <a:solidFill>
            <a:srgbClr val="1E9E77"/>
          </a:solidFill>
          <a:ln/>
        </p:spPr>
      </p:sp>
      <p:sp>
        <p:nvSpPr>
          <p:cNvPr id="17" name="Shape 15"/>
          <p:cNvSpPr/>
          <p:nvPr/>
        </p:nvSpPr>
        <p:spPr>
          <a:xfrm>
            <a:off x="8494776" y="2788920"/>
            <a:ext cx="201168" cy="274320"/>
          </a:xfrm>
          <a:prstGeom prst="rect">
            <a:avLst/>
          </a:prstGeom>
          <a:solidFill>
            <a:srgbClr val="1E9E77"/>
          </a:solidFill>
          <a:ln/>
        </p:spPr>
      </p:sp>
      <p:sp>
        <p:nvSpPr>
          <p:cNvPr id="18" name="Shape 16"/>
          <p:cNvSpPr/>
          <p:nvPr/>
        </p:nvSpPr>
        <p:spPr>
          <a:xfrm>
            <a:off x="8750808" y="2834640"/>
            <a:ext cx="201168" cy="228600"/>
          </a:xfrm>
          <a:prstGeom prst="rect">
            <a:avLst/>
          </a:prstGeom>
          <a:solidFill>
            <a:srgbClr val="1E9E77"/>
          </a:solidFill>
          <a:ln/>
        </p:spPr>
      </p:sp>
      <p:sp>
        <p:nvSpPr>
          <p:cNvPr id="19" name="Shape 17"/>
          <p:cNvSpPr/>
          <p:nvPr/>
        </p:nvSpPr>
        <p:spPr>
          <a:xfrm>
            <a:off x="9006840" y="2880360"/>
            <a:ext cx="201168" cy="182880"/>
          </a:xfrm>
          <a:prstGeom prst="rect">
            <a:avLst/>
          </a:prstGeom>
          <a:solidFill>
            <a:srgbClr val="1E9E77"/>
          </a:solidFill>
          <a:ln/>
        </p:spPr>
      </p:sp>
      <p:sp>
        <p:nvSpPr>
          <p:cNvPr id="20" name="Shape 18"/>
          <p:cNvSpPr/>
          <p:nvPr/>
        </p:nvSpPr>
        <p:spPr>
          <a:xfrm>
            <a:off x="9262872" y="2926080"/>
            <a:ext cx="201168" cy="137160"/>
          </a:xfrm>
          <a:prstGeom prst="rect">
            <a:avLst/>
          </a:prstGeom>
          <a:solidFill>
            <a:srgbClr val="1E9E77"/>
          </a:solidFill>
          <a:ln/>
        </p:spPr>
      </p:sp>
      <p:sp>
        <p:nvSpPr>
          <p:cNvPr id="21" name="Shape 19"/>
          <p:cNvSpPr/>
          <p:nvPr/>
        </p:nvSpPr>
        <p:spPr>
          <a:xfrm>
            <a:off x="9518904" y="2971800"/>
            <a:ext cx="201168" cy="91440"/>
          </a:xfrm>
          <a:prstGeom prst="rect">
            <a:avLst/>
          </a:prstGeom>
          <a:solidFill>
            <a:srgbClr val="1E9E77"/>
          </a:solidFill>
          <a:ln/>
        </p:spPr>
      </p:sp>
      <p:sp>
        <p:nvSpPr>
          <p:cNvPr id="22" name="Shape 20"/>
          <p:cNvSpPr/>
          <p:nvPr/>
        </p:nvSpPr>
        <p:spPr>
          <a:xfrm>
            <a:off x="9774936" y="2926080"/>
            <a:ext cx="201168" cy="137160"/>
          </a:xfrm>
          <a:prstGeom prst="rect">
            <a:avLst/>
          </a:prstGeom>
          <a:solidFill>
            <a:srgbClr val="1E9E77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30968" y="2880360"/>
            <a:ext cx="201168" cy="182880"/>
          </a:xfrm>
          <a:prstGeom prst="rect">
            <a:avLst/>
          </a:prstGeom>
          <a:solidFill>
            <a:srgbClr val="1E9E77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87000" y="2834640"/>
            <a:ext cx="201168" cy="228600"/>
          </a:xfrm>
          <a:prstGeom prst="rect">
            <a:avLst/>
          </a:prstGeom>
          <a:solidFill>
            <a:srgbClr val="1E9E77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43032" y="2788920"/>
            <a:ext cx="201168" cy="274320"/>
          </a:xfrm>
          <a:prstGeom prst="rect">
            <a:avLst/>
          </a:prstGeom>
          <a:solidFill>
            <a:srgbClr val="1E9E77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99064" y="2743200"/>
            <a:ext cx="201168" cy="320040"/>
          </a:xfrm>
          <a:prstGeom prst="rect">
            <a:avLst/>
          </a:prstGeom>
          <a:solidFill>
            <a:srgbClr val="1E9E77"/>
          </a:solidFill>
          <a:ln/>
        </p:spPr>
      </p:sp>
      <p:sp>
        <p:nvSpPr>
          <p:cNvPr id="27" name="Shape 25"/>
          <p:cNvSpPr/>
          <p:nvPr/>
        </p:nvSpPr>
        <p:spPr>
          <a:xfrm>
            <a:off x="11055096" y="2697480"/>
            <a:ext cx="201168" cy="365760"/>
          </a:xfrm>
          <a:prstGeom prst="rect">
            <a:avLst/>
          </a:prstGeom>
          <a:solidFill>
            <a:srgbClr val="1E9E77"/>
          </a:solidFill>
          <a:ln/>
        </p:spPr>
      </p:sp>
      <p:sp>
        <p:nvSpPr>
          <p:cNvPr id="28" name="Shape 26"/>
          <p:cNvSpPr/>
          <p:nvPr/>
        </p:nvSpPr>
        <p:spPr>
          <a:xfrm>
            <a:off x="7909560" y="3429000"/>
            <a:ext cx="2743200" cy="164592"/>
          </a:xfrm>
          <a:prstGeom prst="rect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019288" y="3703320"/>
            <a:ext cx="2743200" cy="164592"/>
          </a:xfrm>
          <a:prstGeom prst="rect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129016" y="3977640"/>
            <a:ext cx="2743200" cy="164592"/>
          </a:xfrm>
          <a:prstGeom prst="rect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238744" y="4251960"/>
            <a:ext cx="2743200" cy="164592"/>
          </a:xfrm>
          <a:prstGeom prst="rect">
            <a:avLst/>
          </a:prstGeom>
          <a:solidFill>
            <a:srgbClr val="4C8DFF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348472" y="4526280"/>
            <a:ext cx="2743200" cy="164592"/>
          </a:xfrm>
          <a:prstGeom prst="rect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680960" y="484632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초록=정방향 · 파랑=역방향 · 상단=coverage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Longread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 · Isoform / Splicing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21208" y="1234440"/>
            <a:ext cx="7863840" cy="329184"/>
          </a:xfrm>
          <a:prstGeom prst="roundRect">
            <a:avLst>
              <a:gd name="adj" fmla="val 11111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23444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CIGAR의 N → splice junction → exon chain → isoform 사용량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6263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롱리드의 핵심 강점: 한 read가 여러 exon을 가로질러 전체 splice 패턴을 직접 보여준다.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CIGAR의 N 연산 = intron을 건너뛴 구간 → splice junction 추출.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같은 exon 연결 구조를 가진 read들을 하나의 isoform 패턴으로 묶는다.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DEG와 다른 질문: DEG='얼마나 발현?', Isoform/DTU='어떤 구조를 사용?' — 총 read 수가 같아도 비율은 바뀐다.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1783080"/>
            <a:ext cx="4251960" cy="4114800"/>
          </a:xfrm>
          <a:prstGeom prst="roundRect">
            <a:avLst>
              <a:gd name="adj" fmla="val 1778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9659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 vs long read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80960" y="2350008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 = 퍼즐 조각 모으기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 = 한 장의 긴 사진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26680" y="3337560"/>
            <a:ext cx="640080" cy="2560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Shape 14"/>
          <p:cNvSpPr/>
          <p:nvPr/>
        </p:nvSpPr>
        <p:spPr>
          <a:xfrm>
            <a:off x="8366760" y="3465576"/>
            <a:ext cx="274320" cy="0"/>
          </a:xfrm>
          <a:prstGeom prst="line">
            <a:avLst/>
          </a:prstGeom>
          <a:noFill/>
          <a:ln w="12700">
            <a:solidFill>
              <a:srgbClr val="6E8095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641080" y="3337560"/>
            <a:ext cx="548640" cy="2560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Shape 16"/>
          <p:cNvSpPr/>
          <p:nvPr/>
        </p:nvSpPr>
        <p:spPr>
          <a:xfrm>
            <a:off x="9189720" y="3465576"/>
            <a:ext cx="640080" cy="0"/>
          </a:xfrm>
          <a:prstGeom prst="line">
            <a:avLst/>
          </a:prstGeom>
          <a:noFill/>
          <a:ln w="12700">
            <a:solidFill>
              <a:srgbClr val="6E8095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829800" y="3337560"/>
            <a:ext cx="731520" cy="2560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36301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26680" y="390448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점선 = intron(N) 건너뜀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680960" y="425196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한 read가 exon1-2-3을 이었다는 걸 직접 관찰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Longread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3b · Gene Fusion 탐지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21208" y="1234440"/>
            <a:ext cx="7863840" cy="329184"/>
          </a:xfrm>
          <a:prstGeom prst="roundRect">
            <a:avLst>
              <a:gd name="adj" fmla="val 11111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23444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두 유전자가 한 RNA로 이어짐 — split/supplementary alignment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6263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 fusion = 두 유전자 서열이 하나의 RNA로 이어붙는 현상, 암에서 흔하다(예: BCR-ABL).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롱리드는 융합 지점(breakpoint)을 하나의 read 안에서 직접 관찰한다.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정렬 시 '앞부분=유전자A, 뒷부분=유전자B'로 갈라지는 split 정렬로 나타난다.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 데이터셋엔 GENE_D--GENE_I 융합이 조건별 다른 빈도(cond1↓, cond2↑)로 심겨 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1783080"/>
            <a:ext cx="4251960" cy="4114800"/>
          </a:xfrm>
          <a:prstGeom prst="roundRect">
            <a:avLst>
              <a:gd name="adj" fmla="val 1778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9659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alignment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26680" y="2651760"/>
            <a:ext cx="1737360" cy="27432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464040" y="2651760"/>
            <a:ext cx="1737360" cy="274320"/>
          </a:xfrm>
          <a:prstGeom prst="rect">
            <a:avLst/>
          </a:prstGeom>
          <a:solidFill>
            <a:srgbClr val="F2B24C"/>
          </a:solidFill>
          <a:ln/>
        </p:spPr>
      </p:sp>
      <p:sp>
        <p:nvSpPr>
          <p:cNvPr id="16" name="Text 14"/>
          <p:cNvSpPr/>
          <p:nvPr/>
        </p:nvSpPr>
        <p:spPr>
          <a:xfrm>
            <a:off x="7726680" y="296265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GENE_D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464040" y="296265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2B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GENE_I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464040" y="2542032"/>
            <a:ext cx="0" cy="493776"/>
          </a:xfrm>
          <a:prstGeom prst="line">
            <a:avLst/>
          </a:prstGeom>
          <a:noFill/>
          <a:ln w="25400">
            <a:solidFill>
              <a:srgbClr val="E063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325526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6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breakpoint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80960" y="384048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 의의: 융합유전자는 표적치료(예: TKI)의 직접 근거가 되는 진단 마커.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Longread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 · DEG — 조건 간 발현량 비교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21208" y="1234440"/>
            <a:ext cx="7863840" cy="329184"/>
          </a:xfrm>
          <a:prstGeom prst="roundRect">
            <a:avLst>
              <a:gd name="adj" fmla="val 11111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23444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count → CPM 정규화 → log2 fold-change → Welch's t-test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6263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각 transcript에 매핑된 read 수 = 그 mRNA 양의 대리 지표(proxy).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먼저 FLAG로 unmapped·secondary alignment를 제외(중복 계수 방지).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CPM(counts per million)으로 라이브러리 크기 차이를 보정한 뒤 log2 FC 계산.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조건당 replicate 2개를 Welch's t-test로 검정 — 생물학적 반복이 '진짜 효과 vs 우연'을 가른다.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1783080"/>
            <a:ext cx="4251960" cy="4114800"/>
          </a:xfrm>
          <a:prstGeom prst="roundRect">
            <a:avLst>
              <a:gd name="adj" fmla="val 1778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9659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정규화·검정 흐름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26680" y="2441448"/>
            <a:ext cx="3703320" cy="457200"/>
          </a:xfrm>
          <a:prstGeom prst="roundRect">
            <a:avLst>
              <a:gd name="adj" fmla="val 10000"/>
            </a:avLst>
          </a:prstGeom>
          <a:solidFill>
            <a:srgbClr val="0B1422"/>
          </a:solidFill>
          <a:ln w="12700">
            <a:solidFill>
              <a:srgbClr val="1E9E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244144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count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441180" y="288036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0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26680" y="3099816"/>
            <a:ext cx="3703320" cy="457200"/>
          </a:xfrm>
          <a:prstGeom prst="roundRect">
            <a:avLst>
              <a:gd name="adj" fmla="val 10000"/>
            </a:avLst>
          </a:prstGeom>
          <a:solidFill>
            <a:srgbClr val="0B1422"/>
          </a:solidFill>
          <a:ln w="12700">
            <a:solidFill>
              <a:srgbClr val="1E9E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309981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CPM 정규화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41180" y="353872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0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26680" y="3758184"/>
            <a:ext cx="3703320" cy="457200"/>
          </a:xfrm>
          <a:prstGeom prst="roundRect">
            <a:avLst>
              <a:gd name="adj" fmla="val 10000"/>
            </a:avLst>
          </a:prstGeom>
          <a:solidFill>
            <a:srgbClr val="0B1422"/>
          </a:solidFill>
          <a:ln w="12700">
            <a:solidFill>
              <a:srgbClr val="1E9E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3758184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log2 FC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41180" y="419709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0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26680" y="4416552"/>
            <a:ext cx="3703320" cy="457200"/>
          </a:xfrm>
          <a:prstGeom prst="roundRect">
            <a:avLst>
              <a:gd name="adj" fmla="val 10000"/>
            </a:avLst>
          </a:prstGeom>
          <a:solidFill>
            <a:srgbClr val="0B1422"/>
          </a:solidFill>
          <a:ln w="12700">
            <a:solidFill>
              <a:srgbClr val="1E9E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441655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Welch t-test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80960" y="516636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E0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한계: 실제 DESeq2/edgeR(음이항 GLM)보다 단순 — replicate 적을 때 검정력 낮음.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Longread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 · Poly(A) 꼬리 길이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21208" y="1234440"/>
            <a:ext cx="7863840" cy="329184"/>
          </a:xfrm>
          <a:prstGeom prst="roundRect">
            <a:avLst>
              <a:gd name="adj" fmla="val 11111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23444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BAM의 pt:i: 태그를 read마다 뽑아 유전자별 분포를 본다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6263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poly(A) tail = mRNA 3' 말단에 붙는 아데닌 꼬리.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PABP 결합으로 분해로부터 보호하고, 번역 효율에 영향을 준다.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꼬리 단축(deadenylation)은 mRNA 분해의 속도결정 단계 → 길이는 안정성·반감기와 연관.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실습: 각 read의 pt:i: 추정값을 모아 유전자별 분포를 비교(10유전자 기준값이 서로 다름).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1783080"/>
            <a:ext cx="4251960" cy="4114800"/>
          </a:xfrm>
          <a:prstGeom prst="roundRect">
            <a:avLst>
              <a:gd name="adj" fmla="val 1778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9659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길이 = 안정성 신호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0" y="3250821"/>
            <a:ext cx="237744" cy="86739"/>
          </a:xfrm>
          <a:prstGeom prst="rect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83296" y="3034810"/>
            <a:ext cx="237744" cy="302750"/>
          </a:xfrm>
          <a:prstGeom prst="rect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394192" y="2696638"/>
            <a:ext cx="237744" cy="640922"/>
          </a:xfrm>
          <a:prstGeom prst="rect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705088" y="2514600"/>
            <a:ext cx="237744" cy="822960"/>
          </a:xfrm>
          <a:prstGeom prst="rect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15984" y="2696638"/>
            <a:ext cx="237744" cy="640922"/>
          </a:xfrm>
          <a:prstGeom prst="rect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326880" y="3034810"/>
            <a:ext cx="237744" cy="302750"/>
          </a:xfrm>
          <a:prstGeom prst="rect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637776" y="3250821"/>
            <a:ext cx="237744" cy="86739"/>
          </a:xfrm>
          <a:prstGeom prst="rect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948672" y="3322487"/>
            <a:ext cx="237744" cy="15073"/>
          </a:xfrm>
          <a:prstGeom prst="rect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259568" y="3335971"/>
            <a:ext cx="237744" cy="1589"/>
          </a:xfrm>
          <a:prstGeom prst="rect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570464" y="3337458"/>
            <a:ext cx="237744" cy="102"/>
          </a:xfrm>
          <a:prstGeom prst="rect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35204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유전자별로 꼬리 길이 분포가 다르게 심겨 있음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80960" y="41605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짧은 꼬리 → 불안정 / 빠른 분해 경향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Longread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6 · m6A RNA 변형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21208" y="1234440"/>
            <a:ext cx="7863840" cy="329184"/>
          </a:xfrm>
          <a:prstGeom prst="roundRect">
            <a:avLst>
              <a:gd name="adj" fmla="val 11111"/>
            </a:avLst>
          </a:prstGeom>
          <a:solidFill>
            <a:srgbClr val="0B1422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23444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93A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MM/ML 태그 해독 → DRACH 모티프 검증 → 조건 간 비교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6263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m6A = 가장 흔한 mRNA 화학 변형(N6-methyladenosine), 안정성·번역·splicing 조절.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각 read의 MM:Z:(위치)·ML:B:C(확신도) 태그를 직접 해독한다.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DRACH 모티프(m6A가 잘 생기는 서열 문맥)에 실제로 위치하는지 검증.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조건 간 변형율 차이(DMR)를 비교 — DEG와 독립적인 질문.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1783080"/>
            <a:ext cx="4251960" cy="4114800"/>
          </a:xfrm>
          <a:prstGeom prst="roundRect">
            <a:avLst>
              <a:gd name="adj" fmla="val 1778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9659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 vs DMR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2423160"/>
            <a:ext cx="3794760" cy="777240"/>
          </a:xfrm>
          <a:prstGeom prst="roundRect">
            <a:avLst>
              <a:gd name="adj" fmla="val 7059"/>
            </a:avLst>
          </a:prstGeom>
          <a:solidFill>
            <a:srgbClr val="0B1422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242316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  </a:t>
            </a:r>
            <a:pPr indent="0" marL="0">
              <a:buNone/>
            </a:pPr>
            <a:r>
              <a:rPr lang="en-US" sz="12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얼마나 많이 발현?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80960" y="3291840"/>
            <a:ext cx="3794760" cy="777240"/>
          </a:xfrm>
          <a:prstGeom prst="roundRect">
            <a:avLst>
              <a:gd name="adj" fmla="val 7059"/>
            </a:avLst>
          </a:prstGeom>
          <a:solidFill>
            <a:srgbClr val="0B1422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32918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2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DMR  </a:t>
            </a:r>
            <a:pPr indent="0" marL="0">
              <a:buNone/>
            </a:pPr>
            <a:r>
              <a:rPr lang="en-US" sz="125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얼마나 변형(m6A)됐나?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680960" y="425196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발현량이 같아도 변형율은 다를 수 있다 — GENE_G가 그 예시.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Longread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합성데이터의 '정답' — 결과와 대조하기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학습용으로 각 유전자에 시나리오를 미리 심어뒀다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7556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시나리오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1755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해당 유전자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039112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039112"/>
            <a:ext cx="73152" cy="548640"/>
          </a:xfrm>
          <a:prstGeom prst="rect">
            <a:avLst/>
          </a:prstGeom>
          <a:solidFill>
            <a:srgbClr val="6E809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03911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대조군 (차이 없음)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0" y="203911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GENE_A · GENE_D · GENE_I · GENE_J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660904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660904"/>
            <a:ext cx="73152" cy="5486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66090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 + DMR 둘 다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0" y="2660904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GENE_B (cond1↑) · GENE_C (cond2↑)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282696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282696"/>
            <a:ext cx="73152" cy="548640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28269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DEG만 (변형은 대조군 수준)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35040" y="328269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GENE_E (cond1↑) · GENE_F (cond2↑) · GENE_H (cond2↑)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390448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904488"/>
            <a:ext cx="73152" cy="548640"/>
          </a:xfrm>
          <a:prstGeom prst="rect">
            <a:avLst/>
          </a:prstGeom>
          <a:solidFill>
            <a:srgbClr val="F2B24C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90448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DMR만 (발현 그대로, 변형율만 다름)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035040" y="3904488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GENE_G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4526280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526280"/>
            <a:ext cx="73152" cy="548640"/>
          </a:xfrm>
          <a:prstGeom prst="rect">
            <a:avLst/>
          </a:prstGeom>
          <a:solidFill>
            <a:srgbClr val="E0637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5262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 fusion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035040" y="452628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6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GENE_D--GENE_I  (cond1↓ · cond2↑)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" y="5148072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5148072"/>
            <a:ext cx="73152" cy="548640"/>
          </a:xfrm>
          <a:prstGeom prst="rect">
            <a:avLst/>
          </a:prstGeom>
          <a:solidFill>
            <a:srgbClr val="9B8CFF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14807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Poly-A 기준값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035040" y="514807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10개 유전자 모두 서로 다르게 심음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02920" y="5806440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1B283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80644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학습: DEG(양)와 DMR(변형)은 서로 독립적인 질문 — GENE_G가 이를 보여주는 예시.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B24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2B24C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2B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두 실습을 관통하는 하나의 골격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도구는 같고, 묻는 질문이 다르다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11201400" cy="1280160"/>
          </a:xfrm>
          <a:prstGeom prst="roundRect">
            <a:avLst>
              <a:gd name="adj" fmla="val 5714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B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공통 파이프라인:  FASTQ  →  정렬(minimap2)  →  정리(samtools)  →  분석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5532120" cy="2606040"/>
          </a:xfrm>
          <a:prstGeom prst="roundRect">
            <a:avLst>
              <a:gd name="adj" fmla="val 2807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8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PyCell · DNA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931920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질문: 서열에 '변이'가 있는가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산출: VCF (변이 목록)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지표: depth · 품질 · 유전형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임상: 진단 변이·약물 표적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337560"/>
            <a:ext cx="5532120" cy="2606040"/>
          </a:xfrm>
          <a:prstGeom prst="roundRect">
            <a:avLst>
              <a:gd name="adj" fmla="val 2807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Longread · RNA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3931920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질문: RNA의 양·구조·변형이 다른가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산출: isoform·DEG·poly-A·m6A·fusion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강점: 한 분자로 전체 구조 관찰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임상: 융합유전자·스플라이싱 이상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B24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2B24C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2B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NGS 실습 해설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실습 체크리스트 &amp; 마무리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막히면 여기부터 확인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5532120" cy="4023360"/>
          </a:xfrm>
          <a:prstGeom prst="roundRect">
            <a:avLst>
              <a:gd name="adj" fmla="val 1818"/>
            </a:avLst>
          </a:prstGeom>
          <a:solidFill>
            <a:srgbClr val="141E30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751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진행 체크리스트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423160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23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39572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최초 로딩(Pyodide·WASM) 완료까지 대기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718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94436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reference가 크면 먼저 구간 자르기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520440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520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49300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탭/버튼을 순서대로 (앞 단계 결과 의존)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069080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690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404164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각 단계 후 파일 뷰어로 결과 확인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617720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617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459028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Longread는 정렬 시 -y로 태그 보존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5166360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1B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166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513892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결과를 '정답 시나리오'와 대조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1828800"/>
            <a:ext cx="5532120" cy="4023360"/>
          </a:xfrm>
          <a:prstGeom prst="roundRect">
            <a:avLst>
              <a:gd name="adj" fmla="val 1818"/>
            </a:avLst>
          </a:prstGeom>
          <a:solidFill>
            <a:srgbClr val="1B283C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9751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자주 막히는 지점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46520" y="242316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CDN 차단(병원망) → 도구 다운로드 실패: 사전 테스트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'먼저 …하세요' 경고 = 앞 단계 미완료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브라우저 메모리 → 분석 영역 제한/구간 자르기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합성데이터·근사 통계 → 실제 임상판정과 구분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4800600"/>
            <a:ext cx="5074920" cy="960120"/>
          </a:xfrm>
          <a:prstGeom prst="roundRect">
            <a:avLst>
              <a:gd name="adj" fmla="val 5714"/>
            </a:avLst>
          </a:prstGeom>
          <a:solidFill>
            <a:srgbClr val="0B1422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80060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9EF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메시지: 브라우저에서 진짜 도구로 FASTQ→VCF, 그리고 RNA 구조까지 — '데이터 해석'이 NGS의 본질임을 손으로 체득한다.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2026-07-31T04:40:30Z</dcterms:created>
  <dcterms:modified xsi:type="dcterms:W3CDTF">2026-07-31T04:40:30Z</dcterms:modified>
</cp:coreProperties>
</file>